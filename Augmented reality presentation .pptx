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800600" y="228600"/>
            <a:ext cx="502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4800600" y="228600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7955280" y="228600"/>
            <a:ext cx="502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955280" y="228600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800600" y="3429000"/>
            <a:ext cx="502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800600" y="3429000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955280" y="3429000"/>
            <a:ext cx="502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955280" y="3429000"/>
            <a:ext cx="64008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281928" y="1600200"/>
            <a:ext cx="192024" cy="1920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254000" dist="50800" dir="16200000">
              <a:srgbClr val="00B4D8">
                <a:alpha val="5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989320" y="1682496"/>
            <a:ext cx="50292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64224" y="1417320"/>
            <a:ext cx="36576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828032" y="2011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400" kern="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SCANNING... ]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4828032" y="32004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00" kern="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◆ TARGET ACQUIRED ◆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411480" y="1234440"/>
            <a:ext cx="109728" cy="2514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254000" dist="50800" dir="16200000">
              <a:srgbClr val="00B4D8">
                <a:alpha val="55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21792" y="120700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AUGMENTED</a:t>
            </a:r>
            <a:endParaRPr lang="en-US" sz="3600" dirty="0"/>
          </a:p>
        </p:txBody>
      </p:sp>
      <p:sp>
        <p:nvSpPr>
          <p:cNvPr id="19" name="Text 15"/>
          <p:cNvSpPr/>
          <p:nvPr/>
        </p:nvSpPr>
        <p:spPr>
          <a:xfrm>
            <a:off x="621792" y="1901952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REALITY</a:t>
            </a:r>
            <a:endParaRPr lang="en-US" sz="6600" dirty="0"/>
          </a:p>
        </p:txBody>
      </p:sp>
      <p:sp>
        <p:nvSpPr>
          <p:cNvPr id="20" name="Text 16"/>
          <p:cNvSpPr/>
          <p:nvPr/>
        </p:nvSpPr>
        <p:spPr>
          <a:xfrm>
            <a:off x="621792" y="30175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Future Is Now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Binod Budha  ·  AR Insights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8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57200" y="74980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Augmented Reality?</a:t>
            </a:r>
            <a:endParaRPr lang="en-US" sz="4600" dirty="0"/>
          </a:p>
        </p:txBody>
      </p:sp>
      <p:sp>
        <p:nvSpPr>
          <p:cNvPr id="5" name="Shape 2"/>
          <p:cNvSpPr/>
          <p:nvPr/>
        </p:nvSpPr>
        <p:spPr>
          <a:xfrm>
            <a:off x="685800" y="1828800"/>
            <a:ext cx="2423160" cy="2697480"/>
          </a:xfrm>
          <a:prstGeom prst="rect">
            <a:avLst/>
          </a:prstGeom>
          <a:solidFill>
            <a:srgbClr val="0D2E6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85800" y="1828800"/>
            <a:ext cx="242316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89888" y="2029968"/>
            <a:ext cx="1005840" cy="100584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254000" dist="50800" dir="16200000">
              <a:srgbClr val="00B4D8">
                <a:alpha val="55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336" y="2176272"/>
            <a:ext cx="694944" cy="6949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31821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OVERLAY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85800" y="37307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on Real World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410712" y="1828800"/>
            <a:ext cx="2423160" cy="2697480"/>
          </a:xfrm>
          <a:prstGeom prst="rect">
            <a:avLst/>
          </a:prstGeom>
          <a:solidFill>
            <a:srgbClr val="0D2E4B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410712" y="1828800"/>
            <a:ext cx="2423160" cy="914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114800" y="2029968"/>
            <a:ext cx="1005840" cy="100584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254000" dist="50800" dir="16200000">
              <a:srgbClr val="FFD700">
                <a:alpha val="5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248" y="2176272"/>
            <a:ext cx="694944" cy="6949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10712" y="31821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REAL-TIME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3410712" y="37307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Processing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35624" y="1828800"/>
            <a:ext cx="2423160" cy="2697480"/>
          </a:xfrm>
          <a:prstGeom prst="rect">
            <a:avLst/>
          </a:prstGeom>
          <a:solidFill>
            <a:srgbClr val="0A2A1A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135624" y="1828800"/>
            <a:ext cx="2423160" cy="914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39712" y="2029968"/>
            <a:ext cx="1005840" cy="1005840"/>
          </a:xfrm>
          <a:prstGeom prst="ellipse">
            <a:avLst/>
          </a:prstGeom>
          <a:solidFill>
            <a:srgbClr val="0A1628"/>
          </a:solidFill>
          <a:ln w="25400">
            <a:solidFill>
              <a:srgbClr val="00C896"/>
            </a:solidFill>
            <a:prstDash val="solid"/>
          </a:ln>
          <a:effectLst>
            <a:outerShdw sx="100000" sy="100000" kx="0" ky="0" algn="bl" rotWithShape="0" blurRad="254000" dist="50800" dir="16200000">
              <a:srgbClr val="00C896">
                <a:alpha val="55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2176272"/>
            <a:ext cx="694944" cy="6949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35624" y="31821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IMMERSIVE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6135624" y="373075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Always Present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AR WORKS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438912" y="1170432"/>
            <a:ext cx="1298448" cy="1298448"/>
          </a:xfrm>
          <a:prstGeom prst="ellipse">
            <a:avLst/>
          </a:prstGeom>
          <a:solidFill>
            <a:srgbClr val="0D2E6B"/>
          </a:solidFill>
          <a:ln w="31750">
            <a:solidFill>
              <a:srgbClr val="00B4D8"/>
            </a:solidFill>
            <a:prstDash val="solid"/>
          </a:ln>
          <a:effectLst>
            <a:outerShdw sx="100000" sy="100000" kx="0" ky="0" algn="bl" rotWithShape="0" blurRad="254000" dist="50800" dir="16200000">
              <a:srgbClr val="00B4D8">
                <a:alpha val="55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71600"/>
            <a:ext cx="822960" cy="8229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755648" y="1764792"/>
            <a:ext cx="393192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325880" y="112471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325880" y="11521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47472" y="263347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CAPTURE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2148840" y="1170432"/>
            <a:ext cx="1298448" cy="1298448"/>
          </a:xfrm>
          <a:prstGeom prst="ellipse">
            <a:avLst/>
          </a:prstGeom>
          <a:solidFill>
            <a:srgbClr val="0D2E6B"/>
          </a:solidFill>
          <a:ln w="31750">
            <a:solidFill>
              <a:srgbClr val="FFD700"/>
            </a:solidFill>
            <a:prstDash val="solid"/>
          </a:ln>
          <a:effectLst>
            <a:outerShdw sx="100000" sy="100000" kx="0" ky="0" algn="bl" rotWithShape="0" blurRad="254000" dist="50800" dir="16200000">
              <a:srgbClr val="FFD700">
                <a:alpha val="55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584" y="1371600"/>
            <a:ext cx="822960" cy="82296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465576" y="1764792"/>
            <a:ext cx="393192" cy="54864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3035808" y="1124712"/>
            <a:ext cx="329184" cy="329184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3035808" y="11521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057400" y="263347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PROCESS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858768" y="1170432"/>
            <a:ext cx="1298448" cy="1298448"/>
          </a:xfrm>
          <a:prstGeom prst="ellipse">
            <a:avLst/>
          </a:prstGeom>
          <a:solidFill>
            <a:srgbClr val="0D2E6B"/>
          </a:solidFill>
          <a:ln w="31750">
            <a:solidFill>
              <a:srgbClr val="FF6B35"/>
            </a:solidFill>
            <a:prstDash val="solid"/>
          </a:ln>
          <a:effectLst>
            <a:outerShdw sx="100000" sy="100000" kx="0" ky="0" algn="bl" rotWithShape="0" blurRad="254000" dist="50800" dir="16200000">
              <a:srgbClr val="FF6B35">
                <a:alpha val="5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1371600"/>
            <a:ext cx="822960" cy="8229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175504" y="1764792"/>
            <a:ext cx="393192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745736" y="1124712"/>
            <a:ext cx="329184" cy="329184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745736" y="11521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3767328" y="263347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ANALYZE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568696" y="1170432"/>
            <a:ext cx="1298448" cy="1298448"/>
          </a:xfrm>
          <a:prstGeom prst="ellipse">
            <a:avLst/>
          </a:prstGeom>
          <a:solidFill>
            <a:srgbClr val="0D2E6B"/>
          </a:solidFill>
          <a:ln w="31750">
            <a:solidFill>
              <a:srgbClr val="00C896"/>
            </a:solidFill>
            <a:prstDash val="solid"/>
          </a:ln>
          <a:effectLst>
            <a:outerShdw sx="100000" sy="100000" kx="0" ky="0" algn="bl" rotWithShape="0" blurRad="254000" dist="50800" dir="16200000">
              <a:srgbClr val="00C896">
                <a:alpha val="55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1371600"/>
            <a:ext cx="822960" cy="82296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885432" y="1764792"/>
            <a:ext cx="393192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455664" y="1124712"/>
            <a:ext cx="329184" cy="329184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455664" y="11521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477256" y="263347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RENDER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278624" y="1170432"/>
            <a:ext cx="1298448" cy="1298448"/>
          </a:xfrm>
          <a:prstGeom prst="ellipse">
            <a:avLst/>
          </a:prstGeom>
          <a:solidFill>
            <a:srgbClr val="0D2E6B"/>
          </a:solidFill>
          <a:ln w="31750">
            <a:solidFill>
              <a:srgbClr val="90E0EF"/>
            </a:solidFill>
            <a:prstDash val="solid"/>
          </a:ln>
          <a:effectLst>
            <a:outerShdw sx="100000" sy="100000" kx="0" ky="0" algn="bl" rotWithShape="0" blurRad="254000" dist="50800" dir="16200000">
              <a:srgbClr val="90E0EF">
                <a:alpha val="55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6368" y="1371600"/>
            <a:ext cx="822960" cy="82296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8165592" y="1124712"/>
            <a:ext cx="329184" cy="329184"/>
          </a:xfrm>
          <a:prstGeom prst="ellipse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8165592" y="11521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7187184" y="2633472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DISPLAY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438912" y="3200400"/>
            <a:ext cx="1481328" cy="475488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438912" y="32278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SLAM</a:t>
            </a:r>
            <a:endParaRPr lang="en-US" sz="1100" dirty="0"/>
          </a:p>
        </p:txBody>
      </p:sp>
      <p:sp>
        <p:nvSpPr>
          <p:cNvPr id="36" name="Shape 28"/>
          <p:cNvSpPr/>
          <p:nvPr/>
        </p:nvSpPr>
        <p:spPr>
          <a:xfrm>
            <a:off x="2148840" y="3200400"/>
            <a:ext cx="1481328" cy="475488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2148840" y="32278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3858768" y="3200400"/>
            <a:ext cx="1481328" cy="475488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3858768" y="32278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 AI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5568696" y="3200400"/>
            <a:ext cx="1481328" cy="475488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5568696" y="32278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LiDAR</a:t>
            </a:r>
            <a:endParaRPr lang="en-US" sz="1100" dirty="0"/>
          </a:p>
        </p:txBody>
      </p:sp>
      <p:sp>
        <p:nvSpPr>
          <p:cNvPr id="42" name="Shape 34"/>
          <p:cNvSpPr/>
          <p:nvPr/>
        </p:nvSpPr>
        <p:spPr>
          <a:xfrm>
            <a:off x="7278624" y="3200400"/>
            <a:ext cx="1481328" cy="475488"/>
          </a:xfrm>
          <a:prstGeom prst="rect">
            <a:avLst/>
          </a:prstGeom>
          <a:solidFill>
            <a:srgbClr val="0A1628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7278624" y="32278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5G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 → AI processing → 3D overlay → your screen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SIZE</a:t>
            </a:r>
            <a:endParaRPr lang="en-US" sz="4200" dirty="0"/>
          </a:p>
        </p:txBody>
      </p:sp>
      <p:sp>
        <p:nvSpPr>
          <p:cNvPr id="6" name="Shape 2"/>
          <p:cNvSpPr/>
          <p:nvPr/>
        </p:nvSpPr>
        <p:spPr>
          <a:xfrm>
            <a:off x="3474720" y="868680"/>
            <a:ext cx="219456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228600" y="1005840"/>
            <a:ext cx="420624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16200000">
              <a:srgbClr val="00B4D8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$38B</a:t>
            </a:r>
            <a:endParaRPr lang="en-US" sz="8800" dirty="0"/>
          </a:p>
        </p:txBody>
      </p:sp>
      <p:sp>
        <p:nvSpPr>
          <p:cNvPr id="8" name="Text 4"/>
          <p:cNvSpPr/>
          <p:nvPr/>
        </p:nvSpPr>
        <p:spPr>
          <a:xfrm>
            <a:off x="228600" y="23317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2024 Market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0" y="822960"/>
            <a:ext cx="420624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16200000">
              <a:srgbClr val="FFD700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$461B</a:t>
            </a:r>
            <a:endParaRPr lang="en-US" sz="8800" dirty="0"/>
          </a:p>
        </p:txBody>
      </p:sp>
      <p:sp>
        <p:nvSpPr>
          <p:cNvPr id="10" name="Text 6"/>
          <p:cNvSpPr/>
          <p:nvPr/>
        </p:nvSpPr>
        <p:spPr>
          <a:xfrm>
            <a:off x="4572000" y="21488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2030 Forecast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28600" y="2926080"/>
            <a:ext cx="420624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16200000">
              <a:srgbClr val="00C896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46%</a:t>
            </a:r>
            <a:endParaRPr lang="en-US" sz="8800" dirty="0"/>
          </a:p>
        </p:txBody>
      </p:sp>
      <p:sp>
        <p:nvSpPr>
          <p:cNvPr id="12" name="Text 8"/>
          <p:cNvSpPr/>
          <p:nvPr/>
        </p:nvSpPr>
        <p:spPr>
          <a:xfrm>
            <a:off x="228600" y="4251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Growth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0" y="2926080"/>
            <a:ext cx="4206240" cy="1371600"/>
          </a:xfrm>
          <a:prstGeom prst="rect">
            <a:avLst/>
          </a:prstGeom>
          <a:noFill/>
          <a:ln/>
          <a:effectLst>
            <a:outerShdw sx="100000" sy="100000" kx="0" ky="0" algn="bl" rotWithShape="0" blurRad="279400" dist="50800" dir="16200000">
              <a:srgbClr val="FF6B35">
                <a:alpha val="50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1.7B</a:t>
            </a:r>
            <a:endParaRPr lang="en-US" sz="8800" dirty="0"/>
          </a:p>
        </p:txBody>
      </p:sp>
      <p:sp>
        <p:nvSpPr>
          <p:cNvPr id="14" name="Text 10"/>
          <p:cNvSpPr/>
          <p:nvPr/>
        </p:nvSpPr>
        <p:spPr>
          <a:xfrm>
            <a:off x="4572000" y="42519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0E0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Devices by 2025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251960" y="960120"/>
            <a:ext cx="64008" cy="3931920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28600" y="2743200"/>
            <a:ext cx="8686800" cy="6400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8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INDUSTRIES TRANSFORMED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594360" y="960120"/>
            <a:ext cx="2423160" cy="1691640"/>
          </a:xfrm>
          <a:prstGeom prst="rect">
            <a:avLst/>
          </a:prstGeom>
          <a:solidFill>
            <a:srgbClr val="0D2E6B">
              <a:alpha val="85000"/>
            </a:srgbClr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254000" dist="50800" dir="16200000">
              <a:srgbClr val="FF6B35">
                <a:alpha val="5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" y="960120"/>
            <a:ext cx="242316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14300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FF6B3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234440"/>
            <a:ext cx="566928" cy="5669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459736" y="1188720"/>
            <a:ext cx="512064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459736" y="119786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$12B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73152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3383280" y="960120"/>
            <a:ext cx="2423160" cy="1691640"/>
          </a:xfrm>
          <a:prstGeom prst="rect">
            <a:avLst/>
          </a:prstGeom>
          <a:solidFill>
            <a:srgbClr val="0D2E6B">
              <a:alpha val="85000"/>
            </a:srgbClr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254000" dist="50800" dir="16200000">
              <a:srgbClr val="00B4D8">
                <a:alpha val="5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83280" y="960120"/>
            <a:ext cx="2423160" cy="1097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474720" y="114300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4448" y="1234440"/>
            <a:ext cx="566928" cy="566928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248656" y="1188720"/>
            <a:ext cx="512064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248656" y="119786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$8B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52044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172200" y="960120"/>
            <a:ext cx="2423160" cy="1691640"/>
          </a:xfrm>
          <a:prstGeom prst="rect">
            <a:avLst/>
          </a:prstGeom>
          <a:solidFill>
            <a:srgbClr val="0D2E6B">
              <a:alpha val="85000"/>
            </a:srgbClr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254000" dist="50800" dir="16200000">
              <a:srgbClr val="FFD700">
                <a:alpha val="5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72200" y="960120"/>
            <a:ext cx="2423160" cy="10972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63640" y="114300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FFD70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368" y="1234440"/>
            <a:ext cx="566928" cy="566928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037576" y="1188720"/>
            <a:ext cx="512064" cy="292608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8037576" y="119786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$5B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309360" y="2011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94360" y="2880360"/>
            <a:ext cx="2423160" cy="1691640"/>
          </a:xfrm>
          <a:prstGeom prst="rect">
            <a:avLst/>
          </a:prstGeom>
          <a:solidFill>
            <a:srgbClr val="0D2E6B">
              <a:alpha val="85000"/>
            </a:srgbClr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254000" dist="50800" dir="16200000">
              <a:srgbClr val="00C896">
                <a:alpha val="5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94360" y="2880360"/>
            <a:ext cx="2423160" cy="10972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85800" y="306324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00C89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3154680"/>
            <a:ext cx="566928" cy="56692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2459736" y="3108960"/>
            <a:ext cx="512064" cy="29260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459736" y="311810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$9B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3152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Manufacturing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3383280" y="2880360"/>
            <a:ext cx="2423160" cy="1691640"/>
          </a:xfrm>
          <a:prstGeom prst="rect">
            <a:avLst/>
          </a:prstGeom>
          <a:solidFill>
            <a:srgbClr val="0D2E6B">
              <a:alpha val="85000"/>
            </a:srgbClr>
          </a:solidFill>
          <a:ln w="19050">
            <a:solidFill>
              <a:srgbClr val="FF4444"/>
            </a:solidFill>
            <a:prstDash val="solid"/>
          </a:ln>
          <a:effectLst>
            <a:outerShdw sx="100000" sy="100000" kx="0" ky="0" algn="bl" rotWithShape="0" blurRad="254000" dist="50800" dir="16200000">
              <a:srgbClr val="FF4444">
                <a:alpha val="55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3383280" y="2880360"/>
            <a:ext cx="2423160" cy="10972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3474720" y="306324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FF4444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4448" y="3154680"/>
            <a:ext cx="566928" cy="566928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5248656" y="3108960"/>
            <a:ext cx="512064" cy="292608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248656" y="311810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$6B</a:t>
            </a:r>
            <a:endParaRPr lang="en-US" sz="1000" dirty="0"/>
          </a:p>
        </p:txBody>
      </p:sp>
      <p:sp>
        <p:nvSpPr>
          <p:cNvPr id="39" name="Text 31"/>
          <p:cNvSpPr/>
          <p:nvPr/>
        </p:nvSpPr>
        <p:spPr>
          <a:xfrm>
            <a:off x="352044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Defense</a:t>
            </a:r>
            <a:endParaRPr lang="en-US" sz="1600" dirty="0"/>
          </a:p>
        </p:txBody>
      </p:sp>
      <p:sp>
        <p:nvSpPr>
          <p:cNvPr id="40" name="Shape 32"/>
          <p:cNvSpPr/>
          <p:nvPr/>
        </p:nvSpPr>
        <p:spPr>
          <a:xfrm>
            <a:off x="6172200" y="2880360"/>
            <a:ext cx="2423160" cy="1691640"/>
          </a:xfrm>
          <a:prstGeom prst="rect">
            <a:avLst/>
          </a:prstGeom>
          <a:solidFill>
            <a:srgbClr val="0D2E6B">
              <a:alpha val="85000"/>
            </a:srgbClr>
          </a:solidFill>
          <a:ln w="19050">
            <a:solidFill>
              <a:srgbClr val="BB88FF"/>
            </a:solidFill>
            <a:prstDash val="solid"/>
          </a:ln>
          <a:effectLst>
            <a:outerShdw sx="100000" sy="100000" kx="0" ky="0" algn="bl" rotWithShape="0" blurRad="254000" dist="50800" dir="16200000">
              <a:srgbClr val="BB88FF">
                <a:alpha val="5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6172200" y="2880360"/>
            <a:ext cx="2423160" cy="109728"/>
          </a:xfrm>
          <a:prstGeom prst="rect">
            <a:avLst/>
          </a:prstGeom>
          <a:solidFill>
            <a:srgbClr val="BB88FF"/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6263640" y="3063240"/>
            <a:ext cx="777240" cy="777240"/>
          </a:xfrm>
          <a:prstGeom prst="ellipse">
            <a:avLst/>
          </a:prstGeom>
          <a:solidFill>
            <a:srgbClr val="0A1628"/>
          </a:solidFill>
          <a:ln w="19050">
            <a:solidFill>
              <a:srgbClr val="BB88FF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3154680"/>
            <a:ext cx="566928" cy="566928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8037576" y="3108960"/>
            <a:ext cx="512064" cy="292608"/>
          </a:xfrm>
          <a:prstGeom prst="rect">
            <a:avLst/>
          </a:prstGeom>
          <a:solidFill>
            <a:srgbClr val="BB88FF"/>
          </a:solidFill>
          <a:ln w="12700">
            <a:solidFill>
              <a:srgbClr val="BB88FF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8037576" y="3118104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$4B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630936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B88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Engineering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0000"/>
            </a:srgbClr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594360" cy="59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 IN HEALTHCARE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274320" y="10515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6200" dirty="0"/>
          </a:p>
        </p:txBody>
      </p:sp>
      <p:sp>
        <p:nvSpPr>
          <p:cNvPr id="7" name="Text 3"/>
          <p:cNvSpPr/>
          <p:nvPr/>
        </p:nvSpPr>
        <p:spPr>
          <a:xfrm>
            <a:off x="274320" y="1920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Reduction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274320" y="228600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3.5×</a:t>
            </a:r>
            <a:endParaRPr lang="en-US" sz="6200" dirty="0"/>
          </a:p>
        </p:txBody>
      </p:sp>
      <p:sp>
        <p:nvSpPr>
          <p:cNvPr id="9" name="Text 5"/>
          <p:cNvSpPr/>
          <p:nvPr/>
        </p:nvSpPr>
        <p:spPr>
          <a:xfrm>
            <a:off x="274320" y="31546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Success Rate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274320" y="35204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$12B</a:t>
            </a:r>
            <a:endParaRPr lang="en-US" sz="6200" dirty="0"/>
          </a:p>
        </p:txBody>
      </p:sp>
      <p:sp>
        <p:nvSpPr>
          <p:cNvPr id="11" name="Text 7"/>
          <p:cNvSpPr/>
          <p:nvPr/>
        </p:nvSpPr>
        <p:spPr>
          <a:xfrm>
            <a:off x="274320" y="43891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2025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108960" y="1005840"/>
            <a:ext cx="54864" cy="3840480"/>
          </a:xfrm>
          <a:prstGeom prst="rect">
            <a:avLst/>
          </a:prstGeom>
          <a:solidFill>
            <a:srgbClr val="FF6B35">
              <a:alpha val="65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291840" y="1024128"/>
            <a:ext cx="5532120" cy="841248"/>
          </a:xfrm>
          <a:prstGeom prst="rect">
            <a:avLst/>
          </a:prstGeom>
          <a:solidFill>
            <a:srgbClr val="0A2030">
              <a:alpha val="90000"/>
            </a:srgbClr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364992" y="1133856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005072" y="107899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Surgical Navigation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005072" y="1463040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overlays guide surgeons live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91840" y="2011680"/>
            <a:ext cx="5532120" cy="841248"/>
          </a:xfrm>
          <a:prstGeom prst="rect">
            <a:avLst/>
          </a:prstGeom>
          <a:solidFill>
            <a:srgbClr val="0A2030">
              <a:alpha val="90000"/>
            </a:srgbClr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364992" y="2121408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👁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4005072" y="206654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Medical Training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4005072" y="2450592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procedures — zero risk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291840" y="2999232"/>
            <a:ext cx="5532120" cy="841248"/>
          </a:xfrm>
          <a:prstGeom prst="rect">
            <a:avLst/>
          </a:prstGeom>
          <a:solidFill>
            <a:srgbClr val="0A2030">
              <a:alpha val="90000"/>
            </a:srgbClr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364992" y="3108960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💉</a:t>
            </a:r>
            <a:endParaRPr lang="en-US" sz="2200" dirty="0"/>
          </a:p>
        </p:txBody>
      </p:sp>
      <p:sp>
        <p:nvSpPr>
          <p:cNvPr id="23" name="Text 19"/>
          <p:cNvSpPr/>
          <p:nvPr/>
        </p:nvSpPr>
        <p:spPr>
          <a:xfrm>
            <a:off x="4005072" y="3054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Vein Visualization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4005072" y="3438144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 accuracy up 3.5× on first try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3291840" y="3986784"/>
            <a:ext cx="5532120" cy="841248"/>
          </a:xfrm>
          <a:prstGeom prst="rect">
            <a:avLst/>
          </a:prstGeom>
          <a:solidFill>
            <a:srgbClr val="0A2030">
              <a:alpha val="90000"/>
            </a:srgbClr>
          </a:solidFill>
          <a:ln w="10160">
            <a:solidFill>
              <a:srgbClr val="FF6B3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364992" y="4096512"/>
            <a:ext cx="548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4005072" y="404164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Patient Education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4005072" y="4425696"/>
            <a:ext cx="4709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anatomy explained on demand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480560" y="0"/>
            <a:ext cx="7315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8600"/>
            <a:ext cx="548640" cy="5486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60120" y="25603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RETAIL AR</a:t>
            </a:r>
            <a:endParaRPr lang="en-US" sz="2800" dirty="0"/>
          </a:p>
        </p:txBody>
      </p:sp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8600"/>
            <a:ext cx="548640" cy="54864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394960" y="256032"/>
            <a:ext cx="3520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EDUCATION AR</a:t>
            </a:r>
            <a:endParaRPr lang="en-US" sz="2800" dirty="0"/>
          </a:p>
        </p:txBody>
      </p:sp>
      <p:sp>
        <p:nvSpPr>
          <p:cNvPr id="9" name="Shape 3"/>
          <p:cNvSpPr/>
          <p:nvPr/>
        </p:nvSpPr>
        <p:spPr>
          <a:xfrm>
            <a:off x="274320" y="1078992"/>
            <a:ext cx="3977640" cy="713232"/>
          </a:xfrm>
          <a:prstGeom prst="rect">
            <a:avLst/>
          </a:prstGeom>
          <a:solidFill>
            <a:srgbClr val="0D2E6B">
              <a:alpha val="8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347472" y="11704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🛋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932688" y="1225296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IKEA Place — try before you buy</a:t>
            </a:r>
            <a:endParaRPr lang="en-US" sz="1200" dirty="0"/>
          </a:p>
        </p:txBody>
      </p:sp>
      <p:sp>
        <p:nvSpPr>
          <p:cNvPr id="12" name="Shape 6"/>
          <p:cNvSpPr/>
          <p:nvPr/>
        </p:nvSpPr>
        <p:spPr>
          <a:xfrm>
            <a:off x="274320" y="1975104"/>
            <a:ext cx="3977640" cy="713232"/>
          </a:xfrm>
          <a:prstGeom prst="rect">
            <a:avLst/>
          </a:prstGeom>
          <a:solidFill>
            <a:srgbClr val="0D2E6B">
              <a:alpha val="8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3" name="Text 7"/>
          <p:cNvSpPr/>
          <p:nvPr/>
        </p:nvSpPr>
        <p:spPr>
          <a:xfrm>
            <a:off x="347472" y="206654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👓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932688" y="2121408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try-ons → +94% sales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274320" y="2871216"/>
            <a:ext cx="3977640" cy="713232"/>
          </a:xfrm>
          <a:prstGeom prst="rect">
            <a:avLst/>
          </a:prstGeom>
          <a:solidFill>
            <a:srgbClr val="0D2E6B">
              <a:alpha val="8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347472" y="296265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🗺</a:t>
            </a:r>
            <a:endParaRPr lang="en-US" sz="2000" dirty="0"/>
          </a:p>
        </p:txBody>
      </p:sp>
      <p:sp>
        <p:nvSpPr>
          <p:cNvPr id="17" name="Text 11"/>
          <p:cNvSpPr/>
          <p:nvPr/>
        </p:nvSpPr>
        <p:spPr>
          <a:xfrm>
            <a:off x="932688" y="3017520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In-store AR navigation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274320" y="3767328"/>
            <a:ext cx="3977640" cy="713232"/>
          </a:xfrm>
          <a:prstGeom prst="rect">
            <a:avLst/>
          </a:prstGeom>
          <a:solidFill>
            <a:srgbClr val="0D2E6B">
              <a:alpha val="80000"/>
            </a:srgbClr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47472" y="38587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0" name="Text 14"/>
          <p:cNvSpPr/>
          <p:nvPr/>
        </p:nvSpPr>
        <p:spPr>
          <a:xfrm>
            <a:off x="932688" y="3913632"/>
            <a:ext cx="3218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smart packaging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773168" y="1078992"/>
            <a:ext cx="4041648" cy="713232"/>
          </a:xfrm>
          <a:prstGeom prst="rect">
            <a:avLst/>
          </a:prstGeom>
          <a:solidFill>
            <a:srgbClr val="0A2A1A">
              <a:alpha val="90000"/>
            </a:srgbClr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846320" y="1170432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5431536" y="122529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simulations — zero risk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773168" y="1975104"/>
            <a:ext cx="4041648" cy="713232"/>
          </a:xfrm>
          <a:prstGeom prst="rect">
            <a:avLst/>
          </a:prstGeom>
          <a:solidFill>
            <a:srgbClr val="0A2A1A">
              <a:alpha val="90000"/>
            </a:srgbClr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846320" y="2066544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26" name="Text 20"/>
          <p:cNvSpPr/>
          <p:nvPr/>
        </p:nvSpPr>
        <p:spPr>
          <a:xfrm>
            <a:off x="5431536" y="2121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textbooks come alive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773168" y="2871216"/>
            <a:ext cx="4041648" cy="713232"/>
          </a:xfrm>
          <a:prstGeom prst="rect">
            <a:avLst/>
          </a:prstGeom>
          <a:solidFill>
            <a:srgbClr val="0A2A1A">
              <a:alpha val="90000"/>
            </a:srgbClr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846320" y="2962656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5431536" y="30175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via live camera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4773168" y="3767328"/>
            <a:ext cx="4041648" cy="713232"/>
          </a:xfrm>
          <a:prstGeom prst="rect">
            <a:avLst/>
          </a:prstGeom>
          <a:solidFill>
            <a:srgbClr val="0A2A1A">
              <a:alpha val="90000"/>
            </a:srgbClr>
          </a:solidFill>
          <a:ln w="10160">
            <a:solidFill>
              <a:srgbClr val="FFD700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4846320" y="3858768"/>
            <a:ext cx="502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32" name="Text 26"/>
          <p:cNvSpPr/>
          <p:nvPr/>
        </p:nvSpPr>
        <p:spPr>
          <a:xfrm>
            <a:off x="5431536" y="39136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skill guidance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80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457200" y="18288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CHALLENGES</a:t>
            </a:r>
            <a:endParaRPr lang="en-US" sz="4200" dirty="0"/>
          </a:p>
        </p:txBody>
      </p:sp>
      <p:sp>
        <p:nvSpPr>
          <p:cNvPr id="6" name="Shape 2"/>
          <p:cNvSpPr/>
          <p:nvPr/>
        </p:nvSpPr>
        <p:spPr>
          <a:xfrm>
            <a:off x="411480" y="1005840"/>
            <a:ext cx="4160520" cy="1024128"/>
          </a:xfrm>
          <a:prstGeom prst="rect">
            <a:avLst/>
          </a:prstGeom>
          <a:solidFill>
            <a:srgbClr val="0D2E6B"/>
          </a:solidFill>
          <a:ln w="10160">
            <a:solidFill>
              <a:srgbClr val="FFD700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2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" y="11887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1188720" y="1078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Hardware Costs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88720" y="14996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$500–$3,500 headsets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1261872"/>
            <a:ext cx="320040" cy="32004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892040" y="1005840"/>
            <a:ext cx="4160520" cy="1024128"/>
          </a:xfrm>
          <a:prstGeom prst="rect">
            <a:avLst/>
          </a:prstGeom>
          <a:solidFill>
            <a:srgbClr val="0D2E6B"/>
          </a:solidFill>
          <a:ln w="10160">
            <a:solidFill>
              <a:srgbClr val="FFD700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20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4983480" y="118872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🔋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5669280" y="10789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Battery Life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669280" y="14996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 hrs max session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261872"/>
            <a:ext cx="320040" cy="32004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11480" y="2286000"/>
            <a:ext cx="4160520" cy="1024128"/>
          </a:xfrm>
          <a:prstGeom prst="rect">
            <a:avLst/>
          </a:prstGeom>
          <a:solidFill>
            <a:srgbClr val="0D2E6B"/>
          </a:solidFill>
          <a:ln w="10160">
            <a:solidFill>
              <a:srgbClr val="FFD700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20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502920" y="24688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👁</a:t>
            </a:r>
            <a:endParaRPr lang="en-US" sz="2600" dirty="0"/>
          </a:p>
        </p:txBody>
      </p:sp>
      <p:sp>
        <p:nvSpPr>
          <p:cNvPr id="18" name="Text 12"/>
          <p:cNvSpPr/>
          <p:nvPr/>
        </p:nvSpPr>
        <p:spPr>
          <a:xfrm>
            <a:off x="1188720" y="23591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Field of View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188720" y="27797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52° FOV only — tunnel effect</a:t>
            </a:r>
            <a:endParaRPr lang="en-US" sz="11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2542032"/>
            <a:ext cx="320040" cy="32004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892040" y="2286000"/>
            <a:ext cx="4160520" cy="1024128"/>
          </a:xfrm>
          <a:prstGeom prst="rect">
            <a:avLst/>
          </a:prstGeom>
          <a:solidFill>
            <a:srgbClr val="0D2E6B"/>
          </a:solidFill>
          <a:ln w="10160">
            <a:solidFill>
              <a:srgbClr val="FFD700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20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4983480" y="246888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🔒</a:t>
            </a:r>
            <a:endParaRPr lang="en-US" sz="2600" dirty="0"/>
          </a:p>
        </p:txBody>
      </p:sp>
      <p:sp>
        <p:nvSpPr>
          <p:cNvPr id="23" name="Text 16"/>
          <p:cNvSpPr/>
          <p:nvPr/>
        </p:nvSpPr>
        <p:spPr>
          <a:xfrm>
            <a:off x="5669280" y="235915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Privacy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669280" y="277977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cameras raise concerns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2542032"/>
            <a:ext cx="320040" cy="32004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411480" y="3566160"/>
            <a:ext cx="4160520" cy="1024128"/>
          </a:xfrm>
          <a:prstGeom prst="rect">
            <a:avLst/>
          </a:prstGeom>
          <a:solidFill>
            <a:srgbClr val="0D2E6B"/>
          </a:solidFill>
          <a:ln w="10160">
            <a:solidFill>
              <a:srgbClr val="FFD700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20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502920" y="37490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28" name="Text 20"/>
          <p:cNvSpPr/>
          <p:nvPr/>
        </p:nvSpPr>
        <p:spPr>
          <a:xfrm>
            <a:off x="1188720" y="3639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Latency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1188720" y="40599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&gt;20ms → motion sickness</a:t>
            </a:r>
            <a:endParaRPr lang="en-US" sz="11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7640" y="3822192"/>
            <a:ext cx="320040" cy="32004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4892040" y="3566160"/>
            <a:ext cx="4160520" cy="1024128"/>
          </a:xfrm>
          <a:prstGeom prst="rect">
            <a:avLst/>
          </a:prstGeom>
          <a:solidFill>
            <a:srgbClr val="0D2E6B"/>
          </a:solidFill>
          <a:ln w="10160">
            <a:solidFill>
              <a:srgbClr val="FFD700"/>
            </a:solidFill>
            <a:prstDash val="solid"/>
          </a:ln>
          <a:effectLst>
            <a:outerShdw sx="100000" sy="100000" kx="0" ky="0" algn="bl" rotWithShape="0" blurRad="203200" dist="63500" dir="8100000">
              <a:srgbClr val="000000">
                <a:alpha val="20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4983480" y="3749040"/>
            <a:ext cx="594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3" name="Text 24"/>
          <p:cNvSpPr/>
          <p:nvPr/>
        </p:nvSpPr>
        <p:spPr>
          <a:xfrm>
            <a:off x="5669280" y="363931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Ecosystem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5669280" y="405993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cross-platform standard</a:t>
            </a:r>
            <a:endParaRPr lang="en-US" sz="11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3822192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5000"/>
            </a:srgbClr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1168"/>
            <a:ext cx="566928" cy="56692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051560" y="22860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FUTURE ROADMAP</a:t>
            </a:r>
            <a:endParaRPr lang="en-US" sz="3800" dirty="0"/>
          </a:p>
        </p:txBody>
      </p:sp>
      <p:sp>
        <p:nvSpPr>
          <p:cNvPr id="7" name="Shape 2"/>
          <p:cNvSpPr/>
          <p:nvPr/>
        </p:nvSpPr>
        <p:spPr>
          <a:xfrm>
            <a:off x="731520" y="1938528"/>
            <a:ext cx="768096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877824" y="1801368"/>
            <a:ext cx="338328" cy="33832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254000" dist="50800" dir="16200000">
              <a:srgbClr val="00B4D8">
                <a:alpha val="55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1037844" y="1024128"/>
            <a:ext cx="45720" cy="77724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30352" y="658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484632" y="91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AR glasses go mainstream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2706624" y="1801368"/>
            <a:ext cx="338328" cy="33832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  <a:effectLst>
            <a:outerShdw sx="100000" sy="100000" kx="0" ky="0" algn="bl" rotWithShape="0" blurRad="254000" dist="50800" dir="16200000">
              <a:srgbClr val="FFD700">
                <a:alpha val="5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2866644" y="2139696"/>
            <a:ext cx="45720" cy="731520"/>
          </a:xfrm>
          <a:prstGeom prst="rect">
            <a:avLst/>
          </a:prstGeom>
          <a:solidFill>
            <a:srgbClr val="FFD700">
              <a:alpha val="6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359152" y="28712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2313432" y="3246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AR: 70%+ Fortune 500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4535424" y="1801368"/>
            <a:ext cx="338328" cy="33832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254000" dist="50800" dir="16200000">
              <a:srgbClr val="FF6B35">
                <a:alpha val="5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695444" y="1024128"/>
            <a:ext cx="45720" cy="777240"/>
          </a:xfrm>
          <a:prstGeom prst="rect">
            <a:avLst/>
          </a:prstGeom>
          <a:solidFill>
            <a:srgbClr val="FF6B35">
              <a:alpha val="6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187952" y="658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2027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4142232" y="91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AR interfaces debut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364224" y="1801368"/>
            <a:ext cx="338328" cy="338328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254000" dist="50800" dir="16200000">
              <a:srgbClr val="00C896">
                <a:alpha val="5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24244" y="2139696"/>
            <a:ext cx="45720" cy="731520"/>
          </a:xfrm>
          <a:prstGeom prst="rect">
            <a:avLst/>
          </a:prstGeom>
          <a:solidFill>
            <a:srgbClr val="00C896">
              <a:alpha val="6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016752" y="28712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2028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5971032" y="3246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lens displays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8193024" y="1801368"/>
            <a:ext cx="338328" cy="338328"/>
          </a:xfrm>
          <a:prstGeom prst="ellipse">
            <a:avLst/>
          </a:prstGeom>
          <a:solidFill>
            <a:srgbClr val="FF4466"/>
          </a:solidFill>
          <a:ln w="12700">
            <a:solidFill>
              <a:srgbClr val="FF4466"/>
            </a:solidFill>
            <a:prstDash val="solid"/>
          </a:ln>
          <a:effectLst>
            <a:outerShdw sx="100000" sy="100000" kx="0" ky="0" algn="bl" rotWithShape="0" blurRad="254000" dist="50800" dir="16200000">
              <a:srgbClr val="FF4466">
                <a:alpha val="5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353044" y="1024128"/>
            <a:ext cx="45720" cy="777240"/>
          </a:xfrm>
          <a:prstGeom prst="rect">
            <a:avLst/>
          </a:prstGeom>
          <a:solidFill>
            <a:srgbClr val="FF4466">
              <a:alpha val="60000"/>
            </a:srgbClr>
          </a:solidFill>
          <a:ln w="12700">
            <a:solidFill>
              <a:srgbClr val="FF4466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845552" y="6583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44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2030+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7799832" y="914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$461B · 5B users · AR = daily OS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38912" y="4370832"/>
            <a:ext cx="1508760" cy="475488"/>
          </a:xfrm>
          <a:prstGeom prst="rect">
            <a:avLst/>
          </a:prstGeom>
          <a:solidFill>
            <a:srgbClr val="0D2E6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438912" y="438912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2103120" y="4370832"/>
            <a:ext cx="1508760" cy="475488"/>
          </a:xfrm>
          <a:prstGeom prst="rect">
            <a:avLst/>
          </a:prstGeom>
          <a:solidFill>
            <a:srgbClr val="0D2E6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2103120" y="438912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3767328" y="4370832"/>
            <a:ext cx="1508760" cy="475488"/>
          </a:xfrm>
          <a:prstGeom prst="rect">
            <a:avLst/>
          </a:prstGeom>
          <a:solidFill>
            <a:srgbClr val="0D2E6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3767328" y="438912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Audio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5431536" y="4370832"/>
            <a:ext cx="1508760" cy="475488"/>
          </a:xfrm>
          <a:prstGeom prst="rect">
            <a:avLst/>
          </a:prstGeom>
          <a:solidFill>
            <a:srgbClr val="0D2E6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431536" y="438912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Micro-Optics</a:t>
            </a:r>
            <a:endParaRPr lang="en-US" sz="1100" dirty="0"/>
          </a:p>
        </p:txBody>
      </p:sp>
      <p:sp>
        <p:nvSpPr>
          <p:cNvPr id="36" name="Shape 31"/>
          <p:cNvSpPr/>
          <p:nvPr/>
        </p:nvSpPr>
        <p:spPr>
          <a:xfrm>
            <a:off x="7095744" y="4370832"/>
            <a:ext cx="1508760" cy="475488"/>
          </a:xfrm>
          <a:prstGeom prst="rect">
            <a:avLst/>
          </a:prstGeom>
          <a:solidFill>
            <a:srgbClr val="0D2E6B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095744" y="4389120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Cloud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5000"/>
            </a:srgbClr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548640" cy="5486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4128" y="2286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TO DO NOW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365760" y="987552"/>
            <a:ext cx="8412480" cy="685800"/>
          </a:xfrm>
          <a:prstGeom prst="rect">
            <a:avLst/>
          </a:prstGeom>
          <a:solidFill>
            <a:srgbClr val="0D2E6B"/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1078992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D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1024128" y="1106424"/>
            <a:ext cx="54864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170432" y="10424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first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170432" y="139903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test on one impactful use case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1792224"/>
            <a:ext cx="8412480" cy="685800"/>
          </a:xfrm>
          <a:prstGeom prst="rect">
            <a:avLst/>
          </a:prstGeom>
          <a:solidFill>
            <a:srgbClr val="10103A"/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57200" y="1883664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D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Shape 9"/>
          <p:cNvSpPr/>
          <p:nvPr/>
        </p:nvSpPr>
        <p:spPr>
          <a:xfrm>
            <a:off x="1024128" y="1911096"/>
            <a:ext cx="54864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70432" y="18470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Build AR teams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170432" y="22037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UX + Dev + Domain experts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65760" y="2596896"/>
            <a:ext cx="8412480" cy="685800"/>
          </a:xfrm>
          <a:prstGeom prst="rect">
            <a:avLst/>
          </a:prstGeom>
          <a:solidFill>
            <a:srgbClr val="0D2E6B"/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2688336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D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1024128" y="2715768"/>
            <a:ext cx="54864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1170432" y="26517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5G + Edge infra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170432" y="300837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the foundation before scaling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65760" y="3401568"/>
            <a:ext cx="8412480" cy="685800"/>
          </a:xfrm>
          <a:prstGeom prst="rect">
            <a:avLst/>
          </a:prstGeom>
          <a:solidFill>
            <a:srgbClr val="10103A"/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" y="3493008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D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1024128" y="3520440"/>
            <a:ext cx="54864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170432" y="34564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 for comfort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170432" y="38130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&gt;60fps  ·  sessions under 30 min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0D2E6B"/>
          </a:solidFill>
          <a:ln w="6350">
            <a:solidFill>
              <a:srgbClr val="7B2D8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57200" y="4297680"/>
            <a:ext cx="502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2D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1024128" y="4325112"/>
            <a:ext cx="54864" cy="45720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70432" y="42611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0E0E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Track ROI daily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1170432" y="461772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rates  ·  time saved  ·  NPS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5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7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QUESTION OF IF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57200" y="960120"/>
            <a:ext cx="8229600" cy="1508760"/>
          </a:xfrm>
          <a:prstGeom prst="rect">
            <a:avLst/>
          </a:prstGeom>
          <a:noFill/>
          <a:ln/>
          <a:effectLst>
            <a:outerShdw sx="100000" sy="100000" kx="0" ky="0" algn="bl" rotWithShape="0" blurRad="254000" dist="50800" dir="16200000">
              <a:srgbClr val="00B4D8">
                <a:alpha val="5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But When.</a:t>
            </a:r>
            <a:endParaRPr lang="en-US" sz="9200" dirty="0"/>
          </a:p>
        </p:txBody>
      </p:sp>
      <p:sp>
        <p:nvSpPr>
          <p:cNvPr id="8" name="Shape 4"/>
          <p:cNvSpPr/>
          <p:nvPr/>
        </p:nvSpPr>
        <p:spPr>
          <a:xfrm>
            <a:off x="2286000" y="2633472"/>
            <a:ext cx="4572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051560" y="2834640"/>
            <a:ext cx="2240280" cy="1298448"/>
          </a:xfrm>
          <a:prstGeom prst="rect">
            <a:avLst/>
          </a:prstGeom>
          <a:solidFill>
            <a:srgbClr val="0D2E6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254000" dist="50800" dir="16200000">
              <a:srgbClr val="00B4D8">
                <a:alpha val="55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1051560" y="2907792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$461B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1051560" y="363931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2030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593592" y="2834640"/>
            <a:ext cx="2240280" cy="1298448"/>
          </a:xfrm>
          <a:prstGeom prst="rect">
            <a:avLst/>
          </a:prstGeom>
          <a:solidFill>
            <a:srgbClr val="0D2E6B"/>
          </a:solidFill>
          <a:ln w="19050">
            <a:solidFill>
              <a:srgbClr val="FFD700"/>
            </a:solidFill>
            <a:prstDash val="solid"/>
          </a:ln>
          <a:effectLst>
            <a:outerShdw sx="100000" sy="100000" kx="0" ky="0" algn="bl" rotWithShape="0" blurRad="254000" dist="50800" dir="16200000">
              <a:srgbClr val="FFD700">
                <a:alpha val="5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593592" y="2907792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46%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593592" y="363931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CAGR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35624" y="2834640"/>
            <a:ext cx="2240280" cy="1298448"/>
          </a:xfrm>
          <a:prstGeom prst="rect">
            <a:avLst/>
          </a:prstGeom>
          <a:solidFill>
            <a:srgbClr val="0D2E6B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254000" dist="50800" dir="16200000">
              <a:srgbClr val="00C896">
                <a:alpha val="55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135624" y="2907792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Industry</a:t>
            </a:r>
            <a:endParaRPr lang="en-US" sz="3000" dirty="0"/>
          </a:p>
        </p:txBody>
      </p:sp>
      <p:sp>
        <p:nvSpPr>
          <p:cNvPr id="17" name="Text 13"/>
          <p:cNvSpPr/>
          <p:nvPr/>
        </p:nvSpPr>
        <p:spPr>
          <a:xfrm>
            <a:off x="6135624" y="3639312"/>
            <a:ext cx="2240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Be Impacted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Augmented Reality — AR Insights 2025  ·  by Binod Budha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75000"/>
            </a:srgbClr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256032" y="201168"/>
            <a:ext cx="502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256032" y="201168"/>
            <a:ext cx="6400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7882128" y="201168"/>
            <a:ext cx="502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385048" y="201168"/>
            <a:ext cx="6400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56032" y="4663440"/>
            <a:ext cx="502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56032" y="4206240"/>
            <a:ext cx="6400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882128" y="4663440"/>
            <a:ext cx="5029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385048" y="4206240"/>
            <a:ext cx="64008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0" y="2331720"/>
            <a:ext cx="9144000" cy="45720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15000"/>
              </a:srgbClr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7200" y="502920"/>
            <a:ext cx="8229600" cy="2286000"/>
          </a:xfrm>
          <a:prstGeom prst="rect">
            <a:avLst/>
          </a:prstGeom>
          <a:noFill/>
          <a:ln/>
          <a:effectLst>
            <a:outerShdw sx="100000" sy="100000" kx="0" ky="0" algn="bl" rotWithShape="0" blurRad="444500" dist="50800" dir="16200000">
              <a:srgbClr val="00B4D8">
                <a:alpha val="6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END</a:t>
            </a:r>
            <a:endParaRPr lang="en-US" sz="18000" dirty="0"/>
          </a:p>
        </p:txBody>
      </p:sp>
      <p:sp>
        <p:nvSpPr>
          <p:cNvPr id="15" name="Shape 11"/>
          <p:cNvSpPr/>
          <p:nvPr/>
        </p:nvSpPr>
        <p:spPr>
          <a:xfrm>
            <a:off x="2286000" y="3200400"/>
            <a:ext cx="4572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500" kern="0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Presented by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7200" y="3703320"/>
            <a:ext cx="822960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203200" dist="50800" dir="16200000">
              <a:srgbClr val="00B4D8">
                <a:alpha val="60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Binod Budha</a:t>
            </a:r>
            <a:endParaRPr lang="en-US" sz="4600" dirty="0"/>
          </a:p>
        </p:txBody>
      </p:sp>
      <p:sp>
        <p:nvSpPr>
          <p:cNvPr id="18" name="Text 1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spc="400" kern="0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 Insights 2025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Augmented Reality — by Binod Budha</dc:title>
  <dc:subject>PptxGenJS Presentation</dc:subject>
  <dc:creator>Binod Budha</dc:creator>
  <cp:lastModifiedBy>Binod Budha</cp:lastModifiedBy>
  <cp:revision>1</cp:revision>
  <dcterms:created xsi:type="dcterms:W3CDTF">2026-03-09T06:20:32Z</dcterms:created>
  <dcterms:modified xsi:type="dcterms:W3CDTF">2026-03-09T06:20:32Z</dcterms:modified>
</cp:coreProperties>
</file>